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73" r:id="rId3"/>
    <p:sldId id="283" r:id="rId4"/>
    <p:sldId id="257" r:id="rId5"/>
    <p:sldId id="274" r:id="rId6"/>
    <p:sldId id="275" r:id="rId7"/>
    <p:sldId id="276" r:id="rId8"/>
    <p:sldId id="277" r:id="rId9"/>
    <p:sldId id="286" r:id="rId10"/>
    <p:sldId id="285" r:id="rId11"/>
    <p:sldId id="278" r:id="rId12"/>
    <p:sldId id="279" r:id="rId13"/>
    <p:sldId id="280" r:id="rId14"/>
    <p:sldId id="281" r:id="rId15"/>
    <p:sldId id="282" r:id="rId16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18"/>
    </p:embeddedFont>
    <p:embeddedFont>
      <p:font typeface="Bodoni MT Condensed" panose="02070606080606020203" pitchFamily="18" charset="0"/>
      <p:regular r:id="rId19"/>
      <p:bold r:id="rId20"/>
      <p:italic r:id="rId21"/>
      <p:boldItalic r:id="rId22"/>
    </p:embeddedFont>
    <p:embeddedFont>
      <p:font typeface="Book Antiqua" panose="02040602050305030304" pitchFamily="18" charset="0"/>
      <p:regular r:id="rId23"/>
      <p:bold r:id="rId24"/>
      <p:italic r:id="rId25"/>
      <p:boldItalic r:id="rId26"/>
    </p:embeddedFont>
    <p:embeddedFont>
      <p:font typeface="Calisto MT" panose="02040603050505030304" pitchFamily="18" charset="0"/>
      <p:regular r:id="rId27"/>
      <p:bold r:id="rId28"/>
      <p:italic r:id="rId29"/>
      <p:boldItalic r:id="rId30"/>
    </p:embeddedFont>
    <p:embeddedFont>
      <p:font typeface="Candara" panose="020E0502030303020204" pitchFamily="34" charset="0"/>
      <p:regular r:id="rId31"/>
      <p:bold r:id="rId32"/>
      <p:italic r:id="rId33"/>
      <p:boldItalic r:id="rId34"/>
    </p:embeddedFont>
    <p:embeddedFont>
      <p:font typeface="Candara Light" panose="020E0502030303020204" pitchFamily="34" charset="0"/>
      <p:regular r:id="rId35"/>
      <p:italic r:id="rId36"/>
    </p:embeddedFont>
    <p:embeddedFont>
      <p:font typeface="Chiller" panose="04020404031007020602" pitchFamily="82" charset="0"/>
      <p:regular r:id="rId37"/>
    </p:embeddedFont>
    <p:embeddedFont>
      <p:font typeface="Comic Sans MS" panose="030F0702030302020204" pitchFamily="66" charset="0"/>
      <p:regular r:id="rId38"/>
      <p:bold r:id="rId39"/>
      <p:italic r:id="rId40"/>
      <p:boldItalic r:id="rId41"/>
    </p:embeddedFont>
    <p:embeddedFont>
      <p:font typeface="Constantia" panose="02030602050306030303" pitchFamily="18" charset="0"/>
      <p:regular r:id="rId42"/>
      <p:bold r:id="rId43"/>
      <p:italic r:id="rId44"/>
      <p:boldItalic r:id="rId45"/>
    </p:embeddedFont>
    <p:embeddedFont>
      <p:font typeface="Lucida Calligraphy" panose="03010101010101010101" pitchFamily="66" charset="0"/>
      <p:regular r:id="rId46"/>
    </p:embeddedFont>
    <p:embeddedFont>
      <p:font typeface="Segoe Print" panose="02000600000000000000" pitchFamily="2" charset="0"/>
      <p:regular r:id="rId47"/>
      <p:bold r:id="rId48"/>
    </p:embeddedFont>
    <p:embeddedFont>
      <p:font typeface="Trebuchet MS" panose="020B060302020202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5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font" Target="fonts/font30.fntdata"/><Relationship Id="rId50" Type="http://schemas.openxmlformats.org/officeDocument/2006/relationships/font" Target="fonts/font33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52" Type="http://schemas.openxmlformats.org/officeDocument/2006/relationships/font" Target="fonts/font3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font" Target="fonts/font3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3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font" Target="fonts/font29.fntdata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font" Target="fonts/font32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IN" sz="1400" b="0" i="0" u="none" strike="noStrike" dirty="0">
                <a:solidFill>
                  <a:srgbClr val="1E1B4B"/>
                </a:solidFill>
                <a:latin typeface="Candara" panose="020E0502030303020204" pitchFamily="34" charset="0"/>
              </a:rPr>
              <a:t>Posts per User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Users</c:v>
                </c:pt>
              </c:strCache>
            </c:strRef>
          </c:tx>
          <c:spPr>
            <a:solidFill>
              <a:srgbClr val="6C2BD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C2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71-46C3-B00C-6A5B4296B996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71-46C3-B00C-6A5B4296B996}"/>
              </c:ext>
            </c:extLst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71-46C3-B00C-6A5B4296B996}"/>
              </c:ext>
            </c:extLst>
          </c:dPt>
          <c:dPt>
            <c:idx val="3"/>
            <c:invertIfNegative val="0"/>
            <c:bubble3D val="0"/>
            <c:spPr>
              <a:solidFill>
                <a:srgbClr val="9C6E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71-46C3-B00C-6A5B4296B996}"/>
              </c:ext>
            </c:extLst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A71-46C3-B00C-6A5B4296B996}"/>
              </c:ext>
            </c:extLst>
          </c:dPt>
          <c:dPt>
            <c:idx val="5"/>
            <c:invertIfNegative val="0"/>
            <c:bubble3D val="0"/>
            <c:spPr>
              <a:solidFill>
                <a:srgbClr val="B8A0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A71-46C3-B00C-6A5B4296B996}"/>
              </c:ext>
            </c:extLst>
          </c:dPt>
          <c:dPt>
            <c:idx val="6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A71-46C3-B00C-6A5B4296B9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 posts</c:v>
                </c:pt>
                <c:pt idx="1">
                  <c:v>1 post</c:v>
                </c:pt>
                <c:pt idx="2">
                  <c:v>2 posts</c:v>
                </c:pt>
                <c:pt idx="3">
                  <c:v>3 posts</c:v>
                </c:pt>
                <c:pt idx="4">
                  <c:v>4 posts</c:v>
                </c:pt>
                <c:pt idx="5">
                  <c:v>5 posts</c:v>
                </c:pt>
                <c:pt idx="6">
                  <c:v>6+posts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</c:v>
                </c:pt>
                <c:pt idx="1">
                  <c:v>18</c:v>
                </c:pt>
                <c:pt idx="2">
                  <c:v>13</c:v>
                </c:pt>
                <c:pt idx="3">
                  <c:v>9</c:v>
                </c:pt>
                <c:pt idx="4">
                  <c:v>13</c:v>
                </c:pt>
                <c:pt idx="5">
                  <c:v>14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71-46C3-B00C-6A5B4296B9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4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8F4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fr-FR" sz="1050" b="0" i="0" u="none" strike="noStrike" dirty="0">
                <a:solidFill>
                  <a:srgbClr val="CBD5E1"/>
                </a:solidFill>
                <a:latin typeface="Candara" panose="020E0502030303020204" pitchFamily="34" charset="0"/>
              </a:rPr>
              <a:t>Total Engagement Score (Likes + </a:t>
            </a:r>
            <a:r>
              <a:rPr lang="fr-FR" sz="1050" b="0" i="0" u="none" strike="noStrike" dirty="0" err="1">
                <a:solidFill>
                  <a:srgbClr val="CBD5E1"/>
                </a:solidFill>
                <a:latin typeface="Candara" panose="020E0502030303020204" pitchFamily="34" charset="0"/>
              </a:rPr>
              <a:t>Comments</a:t>
            </a:r>
            <a:r>
              <a:rPr lang="fr-FR" sz="1050" b="0" i="0" u="none" strike="noStrike" dirty="0">
                <a:solidFill>
                  <a:srgbClr val="CBD5E1"/>
                </a:solidFill>
                <a:latin typeface="Candara" panose="020E0502030303020204" pitchFamily="34" charset="0"/>
              </a:rPr>
              <a:t>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Engagement</c:v>
                </c:pt>
              </c:strCache>
            </c:strRef>
          </c:tx>
          <c:spPr>
            <a:solidFill>
              <a:srgbClr val="6C2B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3C-4EFC-9CF2-D5FA5CC3DF51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3C-4EFC-9CF2-D5FA5CC3DF51}"/>
              </c:ext>
            </c:extLst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3C-4EFC-9CF2-D5FA5CC3DF51}"/>
              </c:ext>
            </c:extLst>
          </c:dPt>
          <c:dPt>
            <c:idx val="3"/>
            <c:invertIfNegative val="0"/>
            <c:bubble3D val="0"/>
            <c:spPr>
              <a:solidFill>
                <a:srgbClr val="9C6E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3C-4EFC-9CF2-D5FA5CC3DF51}"/>
              </c:ext>
            </c:extLst>
          </c:dPt>
          <c:dPt>
            <c:idx val="4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3C-4EFC-9CF2-D5FA5CC3DF51}"/>
              </c:ext>
            </c:extLst>
          </c:dPt>
          <c:dPt>
            <c:idx val="5"/>
            <c:invertIfNegative val="0"/>
            <c:bubble3D val="0"/>
            <c:spPr>
              <a:solidFill>
                <a:srgbClr val="E91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43C-4EFC-9CF2-D5FA5CC3DF51}"/>
              </c:ext>
            </c:extLst>
          </c:dPt>
          <c:dPt>
            <c:idx val="6"/>
            <c:invertIfNegative val="0"/>
            <c:bubble3D val="0"/>
            <c:spPr>
              <a:solidFill>
                <a:srgbClr val="F472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43C-4EFC-9CF2-D5FA5CC3DF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Donald.Fritsch</c:v>
                </c:pt>
                <c:pt idx="1">
                  <c:v>Aurelie71</c:v>
                </c:pt>
                <c:pt idx="2">
                  <c:v>Cesar93</c:v>
                </c:pt>
                <c:pt idx="3">
                  <c:v>Florence99</c:v>
                </c:pt>
                <c:pt idx="4">
                  <c:v>Jaime53</c:v>
                </c:pt>
                <c:pt idx="5">
                  <c:v>Eveline95</c:v>
                </c:pt>
                <c:pt idx="6">
                  <c:v>Kenton_Kirlin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392</c:v>
                </c:pt>
                <c:pt idx="1">
                  <c:v>522</c:v>
                </c:pt>
                <c:pt idx="2">
                  <c:v>646</c:v>
                </c:pt>
                <c:pt idx="3">
                  <c:v>320</c:v>
                </c:pt>
                <c:pt idx="4">
                  <c:v>500</c:v>
                </c:pt>
                <c:pt idx="5">
                  <c:v>749</c:v>
                </c:pt>
                <c:pt idx="6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43C-4EFC-9CF2-D5FA5CC3DF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A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0A1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333333"/>
                </a:solidFill>
                <a:latin typeface="Candara" panose="020E0502030303020204" pitchFamily="34" charset="0"/>
              </a:rPr>
              <a:t>Top Users by Follower 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Followers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6E-4668-87BF-0BA2E1E1B738}"/>
              </c:ext>
            </c:extLst>
          </c:dPt>
          <c:dPt>
            <c:idx val="1"/>
            <c:invertIfNegative val="0"/>
            <c:bubble3D val="0"/>
            <c:spPr>
              <a:solidFill>
                <a:srgbClr val="F06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6E-4668-87BF-0BA2E1E1B738}"/>
              </c:ext>
            </c:extLst>
          </c:dPt>
          <c:dPt>
            <c:idx val="2"/>
            <c:invertIfNegative val="0"/>
            <c:bubble3D val="0"/>
            <c:spPr>
              <a:solidFill>
                <a:srgbClr val="F48F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6E-4668-87BF-0BA2E1E1B738}"/>
              </c:ext>
            </c:extLst>
          </c:dPt>
          <c:dPt>
            <c:idx val="3"/>
            <c:invertIfNegative val="0"/>
            <c:bubble3D val="0"/>
            <c:spPr>
              <a:solidFill>
                <a:srgbClr val="E91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6E-4668-87BF-0BA2E1E1B738}"/>
              </c:ext>
            </c:extLst>
          </c:dPt>
          <c:dPt>
            <c:idx val="4"/>
            <c:invertIfNegative val="0"/>
            <c:bubble3D val="0"/>
            <c:spPr>
              <a:solidFill>
                <a:srgbClr val="F06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6E-4668-87BF-0BA2E1E1B738}"/>
              </c:ext>
            </c:extLst>
          </c:dPt>
          <c:dPt>
            <c:idx val="5"/>
            <c:invertIfNegative val="0"/>
            <c:bubble3D val="0"/>
            <c:spPr>
              <a:solidFill>
                <a:srgbClr val="F48F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46E-4668-87BF-0BA2E1E1B738}"/>
              </c:ext>
            </c:extLst>
          </c:dPt>
          <c:dPt>
            <c:idx val="6"/>
            <c:invertIfNegative val="0"/>
            <c:bubble3D val="0"/>
            <c:spPr>
              <a:solidFill>
                <a:srgbClr val="E91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46E-4668-87BF-0BA2E1E1B7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Donald.F</c:v>
                </c:pt>
                <c:pt idx="1">
                  <c:v>Aurelie71</c:v>
                </c:pt>
                <c:pt idx="2">
                  <c:v>Cesar93</c:v>
                </c:pt>
                <c:pt idx="3">
                  <c:v>Florence99</c:v>
                </c:pt>
                <c:pt idx="4">
                  <c:v>Jaime53</c:v>
                </c:pt>
                <c:pt idx="5">
                  <c:v>Eveline95</c:v>
                </c:pt>
                <c:pt idx="6">
                  <c:v>Kenton_K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77</c:v>
                </c:pt>
                <c:pt idx="1">
                  <c:v>77</c:v>
                </c:pt>
                <c:pt idx="2">
                  <c:v>77</c:v>
                </c:pt>
                <c:pt idx="3">
                  <c:v>77</c:v>
                </c:pt>
                <c:pt idx="4">
                  <c:v>77</c:v>
                </c:pt>
                <c:pt idx="5">
                  <c:v>77</c:v>
                </c:pt>
                <c:pt idx="6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46E-4668-87BF-0BA2E1E1B7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8548387096774194"/>
          <c:y val="0.11994949494949494"/>
          <c:w val="0.61111111111111116"/>
          <c:h val="0.8611111111111111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B2F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024-424B-AC48-0BADF93C478B}"/>
              </c:ext>
            </c:extLst>
          </c:dPt>
          <c:dPt>
            <c:idx val="1"/>
            <c:bubble3D val="0"/>
            <c:spPr>
              <a:solidFill>
                <a:srgbClr val="E8DE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024-424B-AC48-0BADF93C478B}"/>
              </c:ext>
            </c:extLst>
          </c:dPt>
          <c:cat>
            <c:strRef>
              <c:f>Sheet1!$A$2:$A$3</c:f>
              <c:strCache>
                <c:ptCount val="2"/>
                <c:pt idx="0">
                  <c:v>Tagged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1.95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24-424B-AC48-0BADF93C47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solidFill>
          <a:srgbClr val="F3EE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3EE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CBD5E1"/>
                </a:solidFill>
                <a:latin typeface="Candara" panose="020E0502030303020204" pitchFamily="34" charset="0"/>
              </a:rPr>
              <a:t>Hashtag Engagement Rate (estimated top tags)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</c:v>
                </c:pt>
              </c:strCache>
            </c:strRef>
          </c:tx>
          <c:spPr>
            <a:solidFill>
              <a:srgbClr val="E91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EC-4B2F-AC10-F09409FEB9AF}"/>
              </c:ext>
            </c:extLst>
          </c:dPt>
          <c:dPt>
            <c:idx val="1"/>
            <c:invertIfNegative val="0"/>
            <c:bubble3D val="0"/>
            <c:spPr>
              <a:solidFill>
                <a:srgbClr val="9C6E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EC-4B2F-AC10-F09409FEB9AF}"/>
              </c:ext>
            </c:extLst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EC-4B2F-AC10-F09409FEB9AF}"/>
              </c:ext>
            </c:extLst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EC-4B2F-AC10-F09409FEB9AF}"/>
              </c:ext>
            </c:extLst>
          </c:dPt>
          <c:dPt>
            <c:idx val="4"/>
            <c:invertIfNegative val="0"/>
            <c:bubble3D val="0"/>
            <c:spPr>
              <a:solidFill>
                <a:srgbClr val="F472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2EC-4B2F-AC10-F09409FEB9AF}"/>
              </c:ext>
            </c:extLst>
          </c:dPt>
          <c:dPt>
            <c:idx val="5"/>
            <c:invertIfNegative val="0"/>
            <c:bubble3D val="0"/>
            <c:spPr>
              <a:solidFill>
                <a:srgbClr val="F9A8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2EC-4B2F-AC10-F09409FEB9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#delicious</c:v>
                </c:pt>
                <c:pt idx="1">
                  <c:v>#smile</c:v>
                </c:pt>
                <c:pt idx="2">
                  <c:v>#beach</c:v>
                </c:pt>
                <c:pt idx="3">
                  <c:v>#happy</c:v>
                </c:pt>
                <c:pt idx="4">
                  <c:v>#fun</c:v>
                </c:pt>
                <c:pt idx="5">
                  <c:v>#food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65.27</c:v>
                </c:pt>
                <c:pt idx="1">
                  <c:v>58.4</c:v>
                </c:pt>
                <c:pt idx="2">
                  <c:v>54.2</c:v>
                </c:pt>
                <c:pt idx="3">
                  <c:v>51.8</c:v>
                </c:pt>
                <c:pt idx="4">
                  <c:v>49.3</c:v>
                </c:pt>
                <c:pt idx="5">
                  <c:v>47.1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2EC-4B2F-AC10-F09409FEB9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0A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0A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29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2523" y="62523"/>
            <a:ext cx="7041662" cy="21570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 dirty="0">
                <a:latin typeface="Chiller" panose="04020404031007020602" pitchFamily="82" charset="0"/>
              </a:rPr>
              <a:t>Social Media Analysis</a:t>
            </a:r>
            <a:endParaRPr sz="8000" dirty="0">
              <a:latin typeface="Chiller" panose="04020404031007020602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9066A9-0CD7-03F8-F560-51F4769343AD}"/>
              </a:ext>
            </a:extLst>
          </p:cNvPr>
          <p:cNvSpPr txBox="1"/>
          <p:nvPr/>
        </p:nvSpPr>
        <p:spPr>
          <a:xfrm>
            <a:off x="6041292" y="2923932"/>
            <a:ext cx="26963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tangChe" panose="02030609000101010101" pitchFamily="49" charset="-127"/>
                <a:ea typeface="BatangChe" panose="02030609000101010101" pitchFamily="49" charset="-127"/>
              </a:rPr>
              <a:t> - </a:t>
            </a:r>
            <a:r>
              <a:rPr lang="en-IN" dirty="0" err="1">
                <a:latin typeface="Lucida Calligraphy" panose="03010101010101010101" pitchFamily="66" charset="0"/>
                <a:ea typeface="BatangChe" panose="02030609000101010101" pitchFamily="49" charset="-127"/>
              </a:rPr>
              <a:t>Kvss</a:t>
            </a:r>
            <a:r>
              <a:rPr lang="en-IN" dirty="0">
                <a:latin typeface="Lucida Calligraphy" panose="03010101010101010101" pitchFamily="66" charset="0"/>
                <a:ea typeface="BatangChe" panose="02030609000101010101" pitchFamily="49" charset="-127"/>
              </a:rPr>
              <a:t> Bharadwaj</a:t>
            </a:r>
            <a:br>
              <a:rPr lang="en-IN" dirty="0">
                <a:latin typeface="BatangChe" panose="02030609000101010101" pitchFamily="49" charset="-127"/>
                <a:ea typeface="BatangChe" panose="02030609000101010101" pitchFamily="49" charset="-127"/>
              </a:rPr>
            </a:br>
            <a:br>
              <a:rPr lang="en-IN" dirty="0">
                <a:latin typeface="BatangChe" panose="02030609000101010101" pitchFamily="49" charset="-127"/>
                <a:ea typeface="BatangChe" panose="02030609000101010101" pitchFamily="49" charset="-127"/>
              </a:rPr>
            </a:br>
            <a:r>
              <a:rPr lang="en-IN" dirty="0">
                <a:latin typeface="BatangChe" panose="02030609000101010101" pitchFamily="49" charset="-127"/>
                <a:ea typeface="BatangChe" panose="02030609000101010101" pitchFamily="49" charset="-127"/>
              </a:rPr>
              <a:t> - </a:t>
            </a:r>
            <a:r>
              <a:rPr lang="en-IN" b="1" dirty="0">
                <a:latin typeface="Calisto MT" panose="02040603050505030304" pitchFamily="18" charset="0"/>
                <a:ea typeface="BatangChe" panose="02030609000101010101" pitchFamily="49" charset="-127"/>
              </a:rPr>
              <a:t>18 / </a:t>
            </a:r>
            <a:r>
              <a:rPr lang="en-IN" sz="1600" b="1" dirty="0">
                <a:latin typeface="Calisto MT" panose="02040603050505030304" pitchFamily="18" charset="0"/>
                <a:ea typeface="BatangChe" panose="02030609000101010101" pitchFamily="49" charset="-127"/>
              </a:rPr>
              <a:t>05 / 2026</a:t>
            </a:r>
          </a:p>
        </p:txBody>
      </p:sp>
      <p:pic>
        <p:nvPicPr>
          <p:cNvPr id="3" name="Picture 2" descr="Social Media Analytics PNG Transparent Images Free Download | Vector Files  | Pngtree">
            <a:extLst>
              <a:ext uri="{FF2B5EF4-FFF2-40B4-BE49-F238E27FC236}">
                <a16:creationId xmlns:a16="http://schemas.microsoft.com/office/drawing/2014/main" id="{2400C429-ADEF-9D7F-DCB6-37EB9CD1A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24" y="1578764"/>
            <a:ext cx="419307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2588"/>
            <a:ext cx="41148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64748B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About the Project </a:t>
            </a:r>
            <a:endParaRPr lang="en-US" sz="6000" dirty="0">
              <a:latin typeface="Chiller" panose="040204040310070206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14210" y="1069848"/>
            <a:ext cx="3840480" cy="3840480"/>
          </a:xfrm>
          <a:prstGeom prst="ellipse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43700" y="598932"/>
            <a:ext cx="1828800" cy="18288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72768"/>
            <a:ext cx="3977640" cy="1417320"/>
          </a:xfrm>
          <a:prstGeom prst="roundRect">
            <a:avLst>
              <a:gd name="adj" fmla="val 11613"/>
            </a:avLst>
          </a:prstGeom>
          <a:solidFill>
            <a:srgbClr val="6C2BD9"/>
          </a:solidFill>
          <a:ln/>
          <a:effectLst>
            <a:outerShdw blurRad="152400" dist="50800" dir="8100000" algn="bl" rotWithShape="0">
              <a:srgbClr val="6C2BD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B4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</a:t>
            </a:r>
            <a:r>
              <a:rPr lang="en-US" sz="2800" b="1" dirty="0">
                <a:solidFill>
                  <a:srgbClr val="D8B4FE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Databases . .</a:t>
            </a:r>
            <a:endParaRPr lang="en-US" sz="2800" dirty="0">
              <a:latin typeface="Chiller" panose="04020404031007020602" pitchFamily="8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tantia" panose="02030602050306030303" pitchFamily="18" charset="0"/>
                <a:ea typeface="Calibri" pitchFamily="34" charset="-122"/>
                <a:cs typeface="Calibri" pitchFamily="34" charset="-120"/>
              </a:rPr>
              <a:t>Instagram style relational databases - - users, photos, likes, comments, follows, tags, photo_tags tables.</a:t>
            </a:r>
            <a:endParaRPr lang="en-US" sz="1200" dirty="0">
              <a:latin typeface="Constantia" panose="0203060205030603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84048" y="3127248"/>
            <a:ext cx="3977640" cy="1417320"/>
          </a:xfrm>
          <a:prstGeom prst="roundRect">
            <a:avLst>
              <a:gd name="adj" fmla="val 11613"/>
            </a:avLst>
          </a:prstGeom>
          <a:solidFill>
            <a:srgbClr val="16213E"/>
          </a:solidFill>
          <a:ln/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66928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</a:t>
            </a:r>
            <a:r>
              <a:rPr lang="en-US" sz="2000" b="1" dirty="0">
                <a:solidFill>
                  <a:srgbClr val="00D4A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Language &amp; Topics . .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3611880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tantia" panose="02030602050306030303" pitchFamily="18" charset="0"/>
                <a:ea typeface="Calibri" pitchFamily="34" charset="-122"/>
                <a:cs typeface="Calibri" pitchFamily="34" charset="-120"/>
              </a:rPr>
              <a:t>MySQL - - Queries, CTEs, Window Functions, Joins, Aggregations, Subqueries.</a:t>
            </a:r>
            <a:endParaRPr lang="en-US" sz="1100" dirty="0">
              <a:latin typeface="Constantia" panose="0203060205030603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572768"/>
            <a:ext cx="4160520" cy="29718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/>
          <a:effectLst>
            <a:outerShdw blurRad="177800" dist="50800" dir="8100000" algn="bl" rotWithShape="0">
              <a:srgbClr val="6C2BD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1719072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E91E8C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7190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600" dirty="0">
              <a:latin typeface="Chiller" panose="04020404031007020602" pitchFamily="8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28032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1B4B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What is this project?</a:t>
            </a:r>
            <a:endParaRPr lang="en-US" sz="4000" dirty="0">
              <a:latin typeface="Chiller" panose="04020404031007020602" pitchFamily="8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28032" y="26517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0368" y="267004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tantia" panose="02030602050306030303" pitchFamily="18" charset="0"/>
                <a:ea typeface="Calibri" pitchFamily="34" charset="-122"/>
                <a:cs typeface="Calibri" pitchFamily="34" charset="-120"/>
              </a:rPr>
              <a:t>Analyzing a social media platform's database to uncover user behaviour &amp; engagement patterns.</a:t>
            </a:r>
            <a:endParaRPr lang="en-US" sz="1100" dirty="0">
              <a:latin typeface="Constantia" panose="0203060205030603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28032" y="32735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0368" y="32918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tantia" panose="02030602050306030303" pitchFamily="18" charset="0"/>
                <a:ea typeface="Calibri" pitchFamily="34" charset="-122"/>
                <a:cs typeface="Calibri" pitchFamily="34" charset="-120"/>
              </a:rPr>
              <a:t>Answer 13 objective + 10 subjective business questions using SQL queries.</a:t>
            </a:r>
            <a:endParaRPr lang="en-US" sz="1100" dirty="0">
              <a:latin typeface="Constantia" panose="0203060205030603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28032" y="389534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0368" y="391363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tantia" panose="02030602050306030303" pitchFamily="18" charset="0"/>
                <a:ea typeface="Calibri" pitchFamily="34" charset="-122"/>
                <a:cs typeface="Calibri" pitchFamily="34" charset="-120"/>
              </a:rPr>
              <a:t>Deriving insights on top users, influencers, hashtags, and campaign strategy.</a:t>
            </a:r>
            <a:endParaRPr lang="en-US" sz="1100" dirty="0">
              <a:latin typeface="Constantia" panose="0203060205030603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9C7EF-3AFA-DA41-CDBD-D74C0F1D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1" y="86043"/>
            <a:ext cx="8965581" cy="492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00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781" y="18288"/>
            <a:ext cx="5661474" cy="3200400"/>
          </a:xfrm>
          <a:prstGeom prst="ellipse">
            <a:avLst/>
          </a:prstGeom>
          <a:solidFill>
            <a:srgbClr val="6C2BD9">
              <a:alpha val="25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0" y="86868"/>
            <a:ext cx="2560320" cy="256032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5603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          </a:t>
            </a:r>
            <a:r>
              <a:rPr lang="en-US" sz="3600" dirty="0">
                <a:solidFill>
                  <a:srgbClr val="A78BF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Objectives &amp;</a:t>
            </a:r>
            <a:endParaRPr lang="en-US" sz="3600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6244" y="670448"/>
            <a:ext cx="7980556" cy="70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4400" dirty="0">
              <a:latin typeface="Chiller" panose="04020404031007020602" pitchFamily="8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2D1B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270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</a:t>
            </a:r>
            <a:r>
              <a:rPr lang="en-US" dirty="0">
                <a:solidFill>
                  <a:srgbClr val="D8B4FE"/>
                </a:solidFill>
                <a:latin typeface="Chiller" panose="04020404031007020602" pitchFamily="82" charset="0"/>
                <a:ea typeface="Calibri" pitchFamily="34" charset="-122"/>
                <a:cs typeface="Calibri" pitchFamily="34" charset="-120"/>
              </a:rPr>
              <a:t>Problem Statement:  </a:t>
            </a:r>
            <a:r>
              <a:rPr lang="en-US" sz="1150" dirty="0">
                <a:solidFill>
                  <a:srgbClr val="D8B4FE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How can we analyse user activity, engagement, and content data from a social media platform to derive actionable business insights?</a:t>
            </a:r>
            <a:endParaRPr lang="en-US" sz="1150" dirty="0">
              <a:latin typeface="Candara Light" panose="020E0502030303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228600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E1040"/>
          </a:solidFill>
          <a:ln w="15240">
            <a:solidFill>
              <a:srgbClr val="6C2B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93776" y="23408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340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Analyse Activity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Measuring distribution of posts, likes &amp; comments across all users</a:t>
            </a:r>
            <a:endParaRPr lang="en-US" sz="1100" dirty="0">
              <a:latin typeface="Candara Light" panose="020E0502030303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0016" y="2286000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2103A"/>
          </a:solidFill>
          <a:ln w="15240">
            <a:solidFill>
              <a:srgbClr val="E91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3408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21808" y="23408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D4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Tag Analytics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21808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Calculate average number of tags per post using photo_tags table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48" y="3172968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E1040"/>
          </a:solidFill>
          <a:ln w="15240">
            <a:solidFill>
              <a:srgbClr val="6C2B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2278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0704" y="322783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Rank Engagement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3520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Identify &amp; rank top users by total engagement (likes + comments)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00016" y="3172968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2103A"/>
          </a:solidFill>
          <a:ln w="15240">
            <a:solidFill>
              <a:srgbClr val="E91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32278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21808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D4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Followers &amp; Following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21808" y="3520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Find users with highest follower and following counts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4048" y="4059936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E1040"/>
          </a:solidFill>
          <a:ln w="15240">
            <a:solidFill>
              <a:srgbClr val="6C2B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493776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#️⃣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B5FD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Hashtag Insights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05840" y="4407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Retrieve hashtags with highest average likes per post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00016" y="4059936"/>
            <a:ext cx="4069080" cy="804672"/>
          </a:xfrm>
          <a:prstGeom prst="roundRect">
            <a:avLst>
              <a:gd name="adj" fmla="val 13636"/>
            </a:avLst>
          </a:prstGeom>
          <a:solidFill>
            <a:srgbClr val="12103A"/>
          </a:solidFill>
          <a:ln w="15240">
            <a:solidFill>
              <a:srgbClr val="E91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4114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21808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A8D4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Campaign Strategy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21808" y="4407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Segment users for targeted marketing &amp; influencer campaigns</a:t>
            </a:r>
            <a:endParaRPr lang="en-US" sz="1100" dirty="0"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301752"/>
            <a:ext cx="3474720" cy="3474720"/>
          </a:xfrm>
          <a:prstGeom prst="ellipse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79591" y="722376"/>
            <a:ext cx="2506125" cy="2267712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64748B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Social Media</a:t>
            </a:r>
            <a:endParaRPr lang="en-US" sz="4800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C2BD9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Data Snapshot</a:t>
            </a:r>
            <a:endParaRPr lang="en-US" sz="3600" dirty="0">
              <a:latin typeface="Chiller" panose="04020404031007020602" pitchFamily="8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2011680" cy="1371600"/>
          </a:xfrm>
          <a:prstGeom prst="roundRect">
            <a:avLst>
              <a:gd name="adj" fmla="val 10667"/>
            </a:avLst>
          </a:prstGeom>
          <a:solidFill>
            <a:srgbClr val="6C2BD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5361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in the platform database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96312" y="1481328"/>
            <a:ext cx="2011680" cy="13716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87752" y="15361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257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8775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Photos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87752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total posts across all users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45152" y="1481328"/>
            <a:ext cx="2011680" cy="1371600"/>
          </a:xfrm>
          <a:prstGeom prst="roundRect">
            <a:avLst>
              <a:gd name="adj" fmla="val 10667"/>
            </a:avLst>
          </a:prstGeom>
          <a:solidFill>
            <a:srgbClr val="E91E8C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15361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8,782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3659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Likes</a:t>
            </a:r>
            <a:endParaRPr lang="en-US" sz="1300" dirty="0">
              <a:latin typeface="Candara" panose="020E0502030303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36592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total like interactions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93992" y="1481328"/>
            <a:ext cx="2011680" cy="1371600"/>
          </a:xfrm>
          <a:prstGeom prst="roundRect">
            <a:avLst>
              <a:gd name="adj" fmla="val 10667"/>
            </a:avLst>
          </a:prstGeom>
          <a:solidFill>
            <a:srgbClr val="00D4A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85432" y="15361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8543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Tables</a:t>
            </a:r>
            <a:endParaRPr lang="en-US" sz="13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85432" y="2377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users · photos · likes · comments</a:t>
            </a:r>
            <a:endParaRPr lang="en-US" sz="1050" dirty="0">
              <a:solidFill>
                <a:schemeClr val="bg1"/>
              </a:solidFill>
              <a:latin typeface="Candara Light" panose="020E050203030302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follows · tags · photo_tags</a:t>
            </a:r>
            <a:endParaRPr lang="en-US" sz="1050" dirty="0">
              <a:solidFill>
                <a:schemeClr val="bg1"/>
              </a:solidFill>
              <a:latin typeface="Candara Light" panose="020E0502030303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7472" y="2999232"/>
            <a:ext cx="4160520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6C2BD9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090672"/>
            <a:ext cx="1463040" cy="310896"/>
          </a:xfrm>
          <a:prstGeom prst="roundRect">
            <a:avLst>
              <a:gd name="adj" fmla="val 26471"/>
            </a:avLst>
          </a:prstGeom>
          <a:solidFill>
            <a:srgbClr val="E91E8C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906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KEY DATA POINTS</a:t>
            </a:r>
            <a:endParaRPr lang="en-US" sz="1050" dirty="0">
              <a:latin typeface="Chiller" panose="04020404031007020602" pitchFamily="8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35112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5112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2BD9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1300" dirty="0">
              <a:latin typeface="Algerian" panose="04020705040A02060702" pitchFamily="8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08760" y="35112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200" dirty="0">
              <a:latin typeface="Candara Light" panose="020E0502030303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" y="37764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3776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2BD9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257</a:t>
            </a:r>
            <a:endParaRPr lang="en-US" sz="1300" dirty="0">
              <a:latin typeface="Algerian" panose="04020705040A02060702" pitchFamily="8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08760" y="37764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photos posted</a:t>
            </a:r>
            <a:endParaRPr lang="en-US" sz="1200" dirty="0">
              <a:latin typeface="Candara Light" panose="020E0502030303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5488" y="4041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❤️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0416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2BD9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8,782</a:t>
            </a:r>
            <a:endParaRPr lang="en-US" sz="1300" b="1" dirty="0">
              <a:latin typeface="Algerian" panose="04020705040A02060702" pitchFamily="8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508760" y="4041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total likes recorded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5488" y="43068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4306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2BD9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7,488</a:t>
            </a:r>
            <a:endParaRPr lang="en-US" sz="1300" dirty="0">
              <a:latin typeface="Algerian" panose="04020705040A02060702" pitchFamily="8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508760" y="43068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comments made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5488" y="45720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572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2BD9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7,623</a:t>
            </a:r>
            <a:endParaRPr lang="en-US" sz="1300" dirty="0">
              <a:latin typeface="Algerian" panose="04020705040A02060702" pitchFamily="8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508760" y="4572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follow relationships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63440" y="2999232"/>
            <a:ext cx="2103120" cy="1901952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1" name="Text 39"/>
          <p:cNvSpPr/>
          <p:nvPr/>
        </p:nvSpPr>
        <p:spPr>
          <a:xfrm>
            <a:off x="4754880" y="30906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</a:t>
            </a:r>
            <a:r>
              <a:rPr lang="en-US" sz="2400" b="1" dirty="0">
                <a:solidFill>
                  <a:srgbClr val="00D4A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2400" dirty="0">
              <a:latin typeface="Chiller" panose="04020404031007020602" pitchFamily="8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754880" y="3547872"/>
            <a:ext cx="182880" cy="1828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529584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No duplicate records found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54880" y="3877056"/>
            <a:ext cx="182880" cy="1828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858768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No NULL values present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754880" y="4206240"/>
            <a:ext cx="182880" cy="1828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4187952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All user IDs consistent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754880" y="4535424"/>
            <a:ext cx="182880" cy="1828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0" y="4517136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Referential integrity maintained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912864" y="2999232"/>
            <a:ext cx="1938528" cy="1901952"/>
          </a:xfrm>
          <a:prstGeom prst="roundRect">
            <a:avLst>
              <a:gd name="adj" fmla="val 7692"/>
            </a:avLst>
          </a:prstGeom>
          <a:solidFill>
            <a:srgbClr val="EDE7FF"/>
          </a:solidFill>
          <a:ln/>
          <a:effectLst>
            <a:outerShdw blurRad="127000" dist="38100" dir="8100000" algn="bl" rotWithShape="0">
              <a:srgbClr val="6C2BD9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004304" y="309067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2BD9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💡  Why It Matters</a:t>
            </a:r>
            <a:endParaRPr lang="en-US" sz="1800" dirty="0">
              <a:latin typeface="Chiller" panose="04020404031007020602" pitchFamily="82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004304" y="352958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C2BD9"/>
          </a:solidFill>
          <a:ln/>
        </p:spPr>
      </p:sp>
      <p:sp>
        <p:nvSpPr>
          <p:cNvPr id="53" name="Text 51"/>
          <p:cNvSpPr/>
          <p:nvPr/>
        </p:nvSpPr>
        <p:spPr>
          <a:xfrm>
            <a:off x="7278624" y="3511296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Reveals real user behaviour patterns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004304" y="38587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C2BD9"/>
          </a:solidFill>
          <a:ln/>
        </p:spPr>
      </p:sp>
      <p:sp>
        <p:nvSpPr>
          <p:cNvPr id="55" name="Text 53"/>
          <p:cNvSpPr/>
          <p:nvPr/>
        </p:nvSpPr>
        <p:spPr>
          <a:xfrm>
            <a:off x="7278624" y="384048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Enables influencer identification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004304" y="41879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C2BD9"/>
          </a:solidFill>
          <a:ln/>
        </p:spPr>
      </p:sp>
      <p:sp>
        <p:nvSpPr>
          <p:cNvPr id="57" name="Text 55"/>
          <p:cNvSpPr/>
          <p:nvPr/>
        </p:nvSpPr>
        <p:spPr>
          <a:xfrm>
            <a:off x="7278624" y="4169664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Powers campaign targeting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Candara Light" panose="020E0502030303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004304" y="45171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C2BD9"/>
          </a:solidFill>
          <a:ln/>
        </p:spPr>
      </p:sp>
      <p:sp>
        <p:nvSpPr>
          <p:cNvPr id="59" name="Text 57"/>
          <p:cNvSpPr/>
          <p:nvPr/>
        </p:nvSpPr>
        <p:spPr>
          <a:xfrm>
            <a:off x="7278624" y="449884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Guides content strategy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46007"/>
            <a:ext cx="5212080" cy="3200400"/>
          </a:xfrm>
          <a:prstGeom prst="ellipse">
            <a:avLst/>
          </a:prstGeom>
          <a:solidFill>
            <a:srgbClr val="6C2BD9">
              <a:alpha val="25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69664" y="246888"/>
            <a:ext cx="4544568" cy="237744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83664" y="274617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78BF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Analytical Approach &amp;</a:t>
            </a:r>
            <a:endParaRPr lang="en-US" sz="2400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731223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4400" dirty="0">
              <a:latin typeface="Chiller" panose="04020404031007020602" pitchFamily="8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2697480" cy="1627632"/>
          </a:xfrm>
          <a:prstGeom prst="rect">
            <a:avLst/>
          </a:prstGeom>
          <a:solidFill>
            <a:srgbClr val="1E10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81328"/>
            <a:ext cx="91440" cy="1627632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" y="1572768"/>
            <a:ext cx="438912" cy="301752"/>
          </a:xfrm>
          <a:prstGeom prst="roundRect">
            <a:avLst>
              <a:gd name="adj" fmla="val 21212"/>
            </a:avLst>
          </a:prstGeom>
          <a:solidFill>
            <a:srgbClr val="6C2BD9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572768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26464" y="15544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600" dirty="0">
              <a:latin typeface="Chiller" panose="04020404031007020602" pitchFamily="82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Exploration</a:t>
            </a:r>
            <a:endParaRPr lang="en-US" sz="1600" dirty="0">
              <a:latin typeface="Chiller" panose="04020404031007020602" pitchFamily="8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" y="2011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Examined all 7 tables — users, photos, likes, comments, follows, tags, photo_tags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72384" y="2286000"/>
            <a:ext cx="914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108960" y="21579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182112" y="1481328"/>
            <a:ext cx="2697480" cy="1627632"/>
          </a:xfrm>
          <a:prstGeom prst="rect">
            <a:avLst/>
          </a:prstGeom>
          <a:solidFill>
            <a:srgbClr val="1E10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481328"/>
            <a:ext cx="91440" cy="16276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7" name="Shape 15"/>
          <p:cNvSpPr/>
          <p:nvPr/>
        </p:nvSpPr>
        <p:spPr>
          <a:xfrm>
            <a:off x="3346704" y="1572768"/>
            <a:ext cx="438912" cy="301752"/>
          </a:xfrm>
          <a:prstGeom prst="roundRect">
            <a:avLst>
              <a:gd name="adj" fmla="val 21212"/>
            </a:avLst>
          </a:prstGeom>
          <a:solidFill>
            <a:srgbClr val="E91E8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346704" y="1572768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4048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61104" y="15544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8D4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800" dirty="0">
              <a:latin typeface="Chiller" panose="04020404031007020602" pitchFamily="82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9A8D4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Quality Check</a:t>
            </a:r>
            <a:endParaRPr lang="en-US" sz="1800" dirty="0">
              <a:latin typeface="Chiller" panose="04020404031007020602" pitchFamily="8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46704" y="2011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Verified zero NULLs &amp; duplicates across every table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07024" y="2286000"/>
            <a:ext cx="914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0" y="215798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16752" y="1481328"/>
            <a:ext cx="2697480" cy="1627632"/>
          </a:xfrm>
          <a:prstGeom prst="rect">
            <a:avLst/>
          </a:prstGeom>
          <a:solidFill>
            <a:srgbClr val="1E10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16752" y="1481328"/>
            <a:ext cx="91440" cy="16276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Shape 24"/>
          <p:cNvSpPr/>
          <p:nvPr/>
        </p:nvSpPr>
        <p:spPr>
          <a:xfrm>
            <a:off x="6181344" y="1572768"/>
            <a:ext cx="438912" cy="301752"/>
          </a:xfrm>
          <a:prstGeom prst="roundRect">
            <a:avLst>
              <a:gd name="adj" fmla="val 21212"/>
            </a:avLst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6181344" y="1572768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95744" y="15544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Table</a:t>
            </a:r>
            <a:endParaRPr lang="en-US" sz="1600" dirty="0">
              <a:latin typeface="Chiller" panose="04020404031007020602" pitchFamily="82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Joins</a:t>
            </a:r>
            <a:endParaRPr lang="en-US" sz="1600" dirty="0">
              <a:latin typeface="Chiller" panose="04020404031007020602" pitchFamily="8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81344" y="20116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Used LEFT JOINs + COALESCE to include users with zero activity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7472" y="3255264"/>
            <a:ext cx="2697480" cy="1627632"/>
          </a:xfrm>
          <a:prstGeom prst="rect">
            <a:avLst/>
          </a:prstGeom>
          <a:solidFill>
            <a:srgbClr val="12103A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3255264"/>
            <a:ext cx="91440" cy="1627632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33" name="Shape 31"/>
          <p:cNvSpPr/>
          <p:nvPr/>
        </p:nvSpPr>
        <p:spPr>
          <a:xfrm>
            <a:off x="512064" y="3346704"/>
            <a:ext cx="438912" cy="301752"/>
          </a:xfrm>
          <a:prstGeom prst="roundRect">
            <a:avLst>
              <a:gd name="adj" fmla="val 21212"/>
            </a:avLst>
          </a:prstGeom>
          <a:solidFill>
            <a:srgbClr val="6C2BD9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" y="3346704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058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426464" y="332841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CTEs &amp;</a:t>
            </a:r>
            <a:endParaRPr lang="en-US" sz="1600" dirty="0">
              <a:latin typeface="Chiller" panose="04020404031007020602" pitchFamily="82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C4B5FD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Aggregation</a:t>
            </a:r>
            <a:endParaRPr lang="en-US" sz="1600" dirty="0">
              <a:latin typeface="Chiller" panose="04020404031007020602" pitchFamily="8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2064" y="378561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Built multi-step CTEs to calculate likes, comments, and engagement scores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072384" y="4059936"/>
            <a:ext cx="914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108960" y="39319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›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3182112" y="3255264"/>
            <a:ext cx="2697480" cy="1627632"/>
          </a:xfrm>
          <a:prstGeom prst="rect">
            <a:avLst/>
          </a:prstGeom>
          <a:solidFill>
            <a:srgbClr val="12103A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82112" y="3255264"/>
            <a:ext cx="91440" cy="16276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2" name="Shape 40"/>
          <p:cNvSpPr/>
          <p:nvPr/>
        </p:nvSpPr>
        <p:spPr>
          <a:xfrm>
            <a:off x="3346704" y="3346704"/>
            <a:ext cx="438912" cy="301752"/>
          </a:xfrm>
          <a:prstGeom prst="roundRect">
            <a:avLst>
              <a:gd name="adj" fmla="val 21212"/>
            </a:avLst>
          </a:prstGeom>
          <a:solidFill>
            <a:srgbClr val="E91E8C"/>
          </a:solidFill>
          <a:ln/>
        </p:spPr>
      </p:sp>
      <p:sp>
        <p:nvSpPr>
          <p:cNvPr id="43" name="Text 41"/>
          <p:cNvSpPr/>
          <p:nvPr/>
        </p:nvSpPr>
        <p:spPr>
          <a:xfrm>
            <a:off x="3346704" y="3346704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84048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261104" y="332841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8D4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Ranking &amp;</a:t>
            </a:r>
            <a:endParaRPr lang="en-US" sz="1800" dirty="0">
              <a:latin typeface="Chiller" panose="04020404031007020602" pitchFamily="82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9A8D4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Windows</a:t>
            </a:r>
            <a:endParaRPr lang="en-US" sz="1800" dirty="0">
              <a:latin typeface="Chiller" panose="04020404031007020602" pitchFamily="8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346704" y="378561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Applied RANK() OVER() window functions to rank users and influencers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907024" y="4059936"/>
            <a:ext cx="914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5943600" y="39319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›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016752" y="3255264"/>
            <a:ext cx="2697480" cy="1627632"/>
          </a:xfrm>
          <a:prstGeom prst="rect">
            <a:avLst/>
          </a:prstGeom>
          <a:solidFill>
            <a:srgbClr val="12103A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16752" y="3255264"/>
            <a:ext cx="91440" cy="16276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1" name="Shape 49"/>
          <p:cNvSpPr/>
          <p:nvPr/>
        </p:nvSpPr>
        <p:spPr>
          <a:xfrm>
            <a:off x="6181344" y="3346704"/>
            <a:ext cx="438912" cy="301752"/>
          </a:xfrm>
          <a:prstGeom prst="roundRect">
            <a:avLst>
              <a:gd name="adj" fmla="val 21212"/>
            </a:avLst>
          </a:prstGeom>
          <a:solidFill>
            <a:srgbClr val="00D4A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2" name="Text 50"/>
          <p:cNvSpPr/>
          <p:nvPr/>
        </p:nvSpPr>
        <p:spPr>
          <a:xfrm>
            <a:off x="6181344" y="3346704"/>
            <a:ext cx="438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67512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095744" y="332841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800" dirty="0">
              <a:latin typeface="Chiller" panose="04020404031007020602" pitchFamily="82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1800" dirty="0">
              <a:latin typeface="Chiller" panose="04020404031007020602" pitchFamily="82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181344" y="378561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Translated SQL results into strategy: influencers, hashtags, UGC campaigns</a:t>
            </a:r>
            <a:endParaRPr lang="en-US" sz="1050" dirty="0"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"/>
            <a:ext cx="2926080" cy="2926080"/>
          </a:xfrm>
          <a:prstGeom prst="ellipse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7852" y="521208"/>
            <a:ext cx="1371600" cy="1371600"/>
          </a:xfrm>
          <a:prstGeom prst="ellipse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Objective Question 2</a:t>
            </a:r>
            <a:endParaRPr lang="en-US" sz="2000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6C2BD9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User Activity Distribution</a:t>
            </a:r>
            <a:endParaRPr lang="en-US" sz="6600" dirty="0">
              <a:latin typeface="Chiller" panose="04020404031007020602" pitchFamily="82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42952858"/>
              </p:ext>
            </p:extLst>
          </p:nvPr>
        </p:nvGraphicFramePr>
        <p:xfrm>
          <a:off x="347472" y="1261872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261872"/>
            <a:ext cx="3566160" cy="3017520"/>
          </a:xfrm>
          <a:prstGeom prst="rect">
            <a:avLst/>
          </a:prstGeom>
          <a:solidFill>
            <a:srgbClr val="1A1A2E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68112" y="138988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91E8C"/>
          </a:solidFill>
          <a:ln/>
        </p:spPr>
      </p:sp>
      <p:sp>
        <p:nvSpPr>
          <p:cNvPr id="9" name="Text 6"/>
          <p:cNvSpPr/>
          <p:nvPr/>
        </p:nvSpPr>
        <p:spPr>
          <a:xfrm>
            <a:off x="5468112" y="1389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800" dirty="0">
              <a:latin typeface="Chiller" panose="04020404031007020602" pitchFamily="8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40680" y="18013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06440" y="180136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26 users (26%) have never posted — a major inactive segment.</a:t>
            </a:r>
            <a:endParaRPr lang="en-US" sz="1050" dirty="0">
              <a:latin typeface="Candara" panose="020E0502030303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40680" y="227685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📈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806440" y="227685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Most active users post 1–5 photos; very few post more than 6</a:t>
            </a:r>
            <a:endParaRPr lang="en-US" sz="1050" dirty="0">
              <a:latin typeface="Candara" panose="020E0502030303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40680" y="275234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❤️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06440" y="275234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Top user gave 94 likes; 23 users gave zero likes at all</a:t>
            </a:r>
            <a:endParaRPr lang="en-US" sz="1050" dirty="0">
              <a:latin typeface="Candara" panose="020E0502030303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40680" y="322783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806440" y="32278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One power user made 257 comments — 13× the average</a:t>
            </a:r>
            <a:endParaRPr lang="en-US" sz="1050" dirty="0">
              <a:latin typeface="Candara" panose="020E0502030303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40680" y="3703320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🎯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06440" y="37033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Re-engagement campaigns needed for the 26 non-posting users</a:t>
            </a:r>
            <a:endParaRPr lang="en-US" sz="105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03396" y="91440"/>
            <a:ext cx="5949919" cy="2926080"/>
          </a:xfrm>
          <a:prstGeom prst="ellipse">
            <a:avLst/>
          </a:prstGeom>
          <a:solidFill>
            <a:srgbClr val="6C2BD9">
              <a:alpha val="22000"/>
            </a:srgbClr>
          </a:solidFill>
          <a:ln w="12700">
            <a:solidFill>
              <a:srgbClr val="6C2B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46304" y="201168"/>
            <a:ext cx="3968496" cy="3419856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Objective Questions 4 &amp; 6</a:t>
            </a:r>
            <a:endParaRPr lang="en-US" sz="2800" b="1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96865" y="47548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Top User Engagement Ranking</a:t>
            </a:r>
            <a:endParaRPr lang="en-US" sz="4400" dirty="0">
              <a:solidFill>
                <a:schemeClr val="tx1"/>
              </a:solidFill>
              <a:latin typeface="Chiller" panose="04020404031007020602" pitchFamily="82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492736134"/>
              </p:ext>
            </p:extLst>
          </p:nvPr>
        </p:nvGraphicFramePr>
        <p:xfrm>
          <a:off x="347472" y="1261871"/>
          <a:ext cx="5120640" cy="3577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61872"/>
            <a:ext cx="3154680" cy="713232"/>
          </a:xfrm>
          <a:prstGeom prst="rect">
            <a:avLst/>
          </a:prstGeom>
          <a:solidFill>
            <a:srgbClr val="2D1B69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261872"/>
            <a:ext cx="91440" cy="7132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1316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🥇 </a:t>
            </a: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0644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Eveline95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0" y="1316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0D4AA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Score: </a:t>
            </a:r>
            <a:r>
              <a:rPr lang="en-US" b="1" dirty="0">
                <a:solidFill>
                  <a:srgbClr val="00D4AA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749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0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Avg/post: </a:t>
            </a:r>
            <a:r>
              <a:rPr lang="en-US" sz="1050" dirty="0">
                <a:solidFill>
                  <a:srgbClr val="94A3B8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62.42</a:t>
            </a:r>
            <a:endParaRPr lang="en-US" sz="1050" dirty="0">
              <a:latin typeface="Algerian" panose="04020705040A02060702" pitchFamily="8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669280" y="2084832"/>
            <a:ext cx="3154680" cy="713232"/>
          </a:xfrm>
          <a:prstGeom prst="rect">
            <a:avLst/>
          </a:prstGeom>
          <a:solidFill>
            <a:srgbClr val="1A1040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2084832"/>
            <a:ext cx="91440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2"/>
          <p:cNvSpPr/>
          <p:nvPr/>
        </p:nvSpPr>
        <p:spPr>
          <a:xfrm>
            <a:off x="5806440" y="2139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🥈 </a:t>
            </a: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#2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806440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Cesar93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0" y="2139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0D4AA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b="1" dirty="0">
                <a:solidFill>
                  <a:srgbClr val="00D4AA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646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315200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Avg/post: </a:t>
            </a:r>
            <a:r>
              <a:rPr lang="en-US" sz="1050" dirty="0">
                <a:solidFill>
                  <a:srgbClr val="94A3B8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64.60</a:t>
            </a:r>
            <a:endParaRPr lang="en-US" sz="1050" dirty="0">
              <a:latin typeface="Algerian" panose="04020705040A02060702" pitchFamily="8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669280" y="2907792"/>
            <a:ext cx="3154680" cy="713232"/>
          </a:xfrm>
          <a:prstGeom prst="rect">
            <a:avLst/>
          </a:prstGeom>
          <a:solidFill>
            <a:srgbClr val="120D35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2907792"/>
            <a:ext cx="91440" cy="713232"/>
          </a:xfrm>
          <a:prstGeom prst="rect">
            <a:avLst/>
          </a:prstGeom>
          <a:solidFill>
            <a:srgbClr val="CD7C2F"/>
          </a:solidFill>
          <a:ln/>
        </p:spPr>
      </p:sp>
      <p:sp>
        <p:nvSpPr>
          <p:cNvPr id="21" name="Text 18"/>
          <p:cNvSpPr/>
          <p:nvPr/>
        </p:nvSpPr>
        <p:spPr>
          <a:xfrm>
            <a:off x="5806440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🥉 </a:t>
            </a: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806440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Donald.Fritsch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315200" y="2962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0D4AA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Score:</a:t>
            </a:r>
            <a:r>
              <a:rPr lang="en-US" sz="11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00" b="1" dirty="0">
                <a:solidFill>
                  <a:srgbClr val="00D4AA"/>
                </a:solidFill>
                <a:latin typeface="Algerian" panose="04020705040A02060702" pitchFamily="82" charset="0"/>
                <a:ea typeface="Trebuchet MS" pitchFamily="34" charset="-122"/>
                <a:cs typeface="Trebuchet MS" pitchFamily="34" charset="-120"/>
              </a:rPr>
              <a:t>392</a:t>
            </a:r>
            <a:endParaRPr lang="en-US" sz="1200" dirty="0">
              <a:latin typeface="Algerian" panose="04020705040A02060702" pitchFamily="8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15200" y="3218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Avg/post: </a:t>
            </a:r>
            <a:r>
              <a:rPr lang="en-US" sz="1100" dirty="0">
                <a:solidFill>
                  <a:srgbClr val="94A3B8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65.33</a:t>
            </a:r>
            <a:endParaRPr lang="en-US" sz="1100" dirty="0">
              <a:latin typeface="Algerian" panose="04020705040A02060702" pitchFamily="8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669280" y="3767328"/>
            <a:ext cx="3154680" cy="877824"/>
          </a:xfrm>
          <a:prstGeom prst="rect">
            <a:avLst/>
          </a:prstGeom>
          <a:solidFill>
            <a:srgbClr val="1E1040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0" y="3767328"/>
            <a:ext cx="91440" cy="87782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7" name="Text 24"/>
          <p:cNvSpPr/>
          <p:nvPr/>
        </p:nvSpPr>
        <p:spPr>
          <a:xfrm>
            <a:off x="5833872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</a:t>
            </a:r>
            <a:r>
              <a:rPr lang="en-US" sz="1600" b="1" dirty="0">
                <a:solidFill>
                  <a:srgbClr val="F9A8D4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Insight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833872" y="40782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Avg engagement/post matters more than total score - - Donald.Fritsch leads at 65.33 per post.</a:t>
            </a:r>
            <a:endParaRPr lang="en-US" sz="1050" dirty="0"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82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444444"/>
                </a:solidFill>
                <a:latin typeface="Chiller" panose="04020404031007020602" pitchFamily="82" charset="0"/>
                <a:ea typeface="Georgia" pitchFamily="34" charset="-122"/>
                <a:cs typeface="Georgia" pitchFamily="34" charset="-120"/>
              </a:rPr>
              <a:t>Objective Question 5</a:t>
            </a:r>
            <a:endParaRPr lang="en-US" sz="3200" dirty="0">
              <a:latin typeface="Chiller" panose="040204040310070206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3860" y="530352"/>
            <a:ext cx="6344412" cy="77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7B2FBE"/>
                </a:solidFill>
                <a:latin typeface="Chiller" panose="04020404031007020602" pitchFamily="82" charset="0"/>
                <a:ea typeface="Georgia" pitchFamily="34" charset="-122"/>
                <a:cs typeface="Georgia" pitchFamily="34" charset="-120"/>
              </a:rPr>
              <a:t>Followers</a:t>
            </a:r>
            <a:endParaRPr lang="en-US" sz="3200" dirty="0">
              <a:latin typeface="Chiller" panose="040204040310070206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695444" y="251459"/>
            <a:ext cx="3861816" cy="3619499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9220" y="411480"/>
            <a:ext cx="4159758" cy="1905000"/>
          </a:xfrm>
          <a:prstGeom prst="ellipse">
            <a:avLst/>
          </a:prstGeom>
          <a:solidFill>
            <a:srgbClr val="F48FB1">
              <a:alpha val="45000"/>
            </a:srgbClr>
          </a:solidFill>
          <a:ln w="19050">
            <a:solidFill>
              <a:srgbClr val="E91E8C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110681872"/>
              </p:ext>
            </p:extLst>
          </p:nvPr>
        </p:nvGraphicFramePr>
        <p:xfrm>
          <a:off x="347472" y="141732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417320"/>
            <a:ext cx="3246120" cy="3200400"/>
          </a:xfrm>
          <a:prstGeom prst="rect">
            <a:avLst/>
          </a:prstGeom>
          <a:solidFill>
            <a:srgbClr val="1A1A2E"/>
          </a:solidFill>
          <a:ln/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33872" y="1627632"/>
            <a:ext cx="1737360" cy="29260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9" name="Text 6"/>
          <p:cNvSpPr/>
          <p:nvPr/>
        </p:nvSpPr>
        <p:spPr>
          <a:xfrm>
            <a:off x="5833872" y="1627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800" b="1" dirty="0">
              <a:latin typeface="Candara" panose="020E0502030303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33872" y="208483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272784" y="210312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Top influencers all share 77 followers — highly competitive tier</a:t>
            </a:r>
            <a:endParaRPr lang="en-US" sz="1050" dirty="0">
              <a:latin typeface="Candara" panose="020E0502030303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833872" y="2999232"/>
            <a:ext cx="2926080" cy="0"/>
          </a:xfrm>
          <a:prstGeom prst="line">
            <a:avLst/>
          </a:prstGeom>
          <a:noFill/>
          <a:ln w="6350">
            <a:solidFill>
              <a:srgbClr val="2D37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32735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72784" y="329184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Mutual follow users identified via self-join query</a:t>
            </a:r>
            <a:endParaRPr lang="en-US" sz="105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82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44444"/>
                </a:solidFill>
                <a:latin typeface="Chiller" panose="04020404031007020602" pitchFamily="82" charset="0"/>
                <a:ea typeface="Georgia" pitchFamily="34" charset="-122"/>
                <a:cs typeface="Georgia" pitchFamily="34" charset="-120"/>
              </a:rPr>
              <a:t>Objective Questions 3 &amp; 12</a:t>
            </a:r>
            <a:endParaRPr lang="en-US" sz="2800" dirty="0">
              <a:latin typeface="Chiller" panose="040204040310070206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7472" y="530352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B2FBE"/>
                </a:solidFill>
                <a:latin typeface="Chiller" panose="04020404031007020602" pitchFamily="82" charset="0"/>
                <a:ea typeface="Georgia" pitchFamily="34" charset="-122"/>
                <a:cs typeface="Georgia" pitchFamily="34" charset="-120"/>
              </a:rPr>
              <a:t>Tags, Hashtags</a:t>
            </a:r>
            <a:endParaRPr lang="en-US" sz="2800" dirty="0">
              <a:latin typeface="Chiller" panose="04020404031007020602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92608" y="1417320"/>
            <a:ext cx="3200400" cy="2651760"/>
          </a:xfrm>
          <a:prstGeom prst="rect">
            <a:avLst/>
          </a:prstGeom>
          <a:solidFill>
            <a:srgbClr val="F3EEFF"/>
          </a:solidFill>
          <a:ln w="12700">
            <a:solidFill>
              <a:srgbClr val="E9D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Avg Tags / Post: </a:t>
            </a:r>
            <a:r>
              <a:rPr lang="en-US" b="1" dirty="0">
                <a:solidFill>
                  <a:srgbClr val="1A1A2E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1.95</a:t>
            </a:r>
            <a:endParaRPr lang="en-US" dirty="0">
              <a:latin typeface="Algerian" panose="04020705040A02060702" pitchFamily="82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625345670"/>
              </p:ext>
            </p:extLst>
          </p:nvPr>
        </p:nvGraphicFramePr>
        <p:xfrm>
          <a:off x="384048" y="1755648"/>
          <a:ext cx="28346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49808" y="245059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2FBE"/>
                </a:solidFill>
                <a:latin typeface="Algerian" panose="04020705040A02060702" pitchFamily="82" charset="0"/>
                <a:ea typeface="Segoe UI" pitchFamily="34" charset="-122"/>
                <a:cs typeface="Segoe UI" pitchFamily="34" charset="-120"/>
              </a:rPr>
              <a:t>1.95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9808" y="29260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avg tags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808" y="31272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per post</a:t>
            </a:r>
            <a:endParaRPr lang="en-US" sz="1100" dirty="0">
              <a:latin typeface="Candara" panose="020E0502030303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92608" y="4169664"/>
            <a:ext cx="3200400" cy="777240"/>
          </a:xfrm>
          <a:prstGeom prst="rect">
            <a:avLst/>
          </a:prstGeom>
          <a:solidFill>
            <a:srgbClr val="7B2FBE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4206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hiller" panose="04020404031007020602" pitchFamily="82" charset="0"/>
                <a:ea typeface="Georgia" pitchFamily="34" charset="-122"/>
                <a:cs typeface="Georgia" pitchFamily="34" charset="-120"/>
              </a:rPr>
              <a:t>#delicious</a:t>
            </a:r>
            <a:endParaRPr lang="en-US" sz="2400" dirty="0">
              <a:latin typeface="Chiller" panose="04020404031007020602" pitchFamily="8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8912" y="4535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B4F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Top hashtag  ·  </a:t>
            </a:r>
            <a:r>
              <a:rPr lang="en-US" sz="1200" dirty="0">
                <a:solidFill>
                  <a:srgbClr val="D8B4FE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65.27</a:t>
            </a:r>
            <a:r>
              <a:rPr lang="en-US" sz="1200" dirty="0">
                <a:solidFill>
                  <a:srgbClr val="D8B4F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engagement rate  ·  </a:t>
            </a:r>
            <a:r>
              <a:rPr lang="en-US" sz="1200" dirty="0">
                <a:solidFill>
                  <a:srgbClr val="D8B4FE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200" dirty="0">
                <a:solidFill>
                  <a:srgbClr val="D8B4FE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 photos</a:t>
            </a:r>
            <a:endParaRPr lang="en-US" sz="1200" dirty="0">
              <a:latin typeface="Candara" panose="020E0502030303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560320" y="1554480"/>
            <a:ext cx="3840480" cy="2011680"/>
          </a:xfrm>
          <a:prstGeom prst="ellipse">
            <a:avLst/>
          </a:prstGeom>
          <a:solidFill>
            <a:srgbClr val="F48FB1">
              <a:alpha val="45000"/>
            </a:srgbClr>
          </a:solidFill>
          <a:ln w="19050">
            <a:solidFill>
              <a:srgbClr val="E91E8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0" y="822960"/>
            <a:ext cx="2926080" cy="32004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1120140"/>
            <a:ext cx="2743200" cy="3817620"/>
          </a:xfrm>
          <a:prstGeom prst="rect">
            <a:avLst/>
          </a:prstGeom>
          <a:solidFill>
            <a:srgbClr val="1A1A2E"/>
          </a:solidFill>
          <a:ln/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1417320"/>
            <a:ext cx="1645920" cy="2743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FFFFFF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b="1" dirty="0">
              <a:latin typeface="Candara" panose="020E0502030303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0" y="18470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39712" y="1865376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Average 1.95 tags per post across 257 photos</a:t>
            </a:r>
            <a:endParaRPr lang="en-US" sz="1050" dirty="0">
              <a:latin typeface="Candara" panose="020E0502030303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00800" y="27614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#️⃣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839712" y="2779776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#delicious leads with 65.27 engagement rate on 15 posts</a:t>
            </a:r>
            <a:endParaRPr lang="en-US" sz="1000" dirty="0">
              <a:latin typeface="Candara" panose="020E0502030303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00800" y="36758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839712" y="3694176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Food &amp; lifestyle hashtags drive the most interaction</a:t>
            </a:r>
            <a:endParaRPr lang="en-US" sz="105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22776" y="553212"/>
            <a:ext cx="3200400" cy="3200400"/>
          </a:xfrm>
          <a:prstGeom prst="ellipse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99632" y="237074"/>
            <a:ext cx="2596896" cy="2122077"/>
          </a:xfrm>
          <a:prstGeom prst="ellipse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4748B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Subjective Questions 1 &amp; 6</a:t>
            </a:r>
            <a:endParaRPr lang="en-US" sz="3200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6C2BD9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Loyal Users &amp; Segmentation</a:t>
            </a:r>
            <a:endParaRPr lang="en-US" sz="5400" dirty="0">
              <a:latin typeface="Chiller" panose="04020404031007020602" pitchFamily="8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160520" cy="329184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🏆  Most Loyal Users (by Total Engagement)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7472" y="1572768"/>
            <a:ext cx="4160520" cy="877824"/>
          </a:xfrm>
          <a:prstGeom prst="rect">
            <a:avLst/>
          </a:prstGeom>
          <a:solidFill>
            <a:srgbClr val="2D1B6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72768"/>
            <a:ext cx="91440" cy="87782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6459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Eveline95</a:t>
            </a:r>
            <a:endParaRPr lang="en-US" sz="1800" dirty="0">
              <a:latin typeface="Candara" panose="020E05020303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2608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C4B5FD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ID: 23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0665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ndara" panose="020E0502030303020204" pitchFamily="34" charset="0"/>
                <a:ea typeface="Calibri" pitchFamily="34" charset="-122"/>
                <a:cs typeface="Calibri" pitchFamily="34" charset="-120"/>
              </a:rPr>
              <a:t>Score: 749  ·  VIP early access + exclusive badge</a:t>
            </a:r>
            <a:endParaRPr lang="en-US" sz="1050" dirty="0">
              <a:latin typeface="Candara" panose="020E0502030303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7472" y="2578608"/>
            <a:ext cx="4160520" cy="877824"/>
          </a:xfrm>
          <a:prstGeom prst="rect">
            <a:avLst/>
          </a:prstGeom>
          <a:solidFill>
            <a:srgbClr val="16213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578608"/>
            <a:ext cx="91440" cy="8778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6517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2633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Clint27</a:t>
            </a:r>
            <a:endParaRPr lang="en-US" sz="1800" dirty="0">
              <a:latin typeface="Candara" panose="020E0502030303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C4B5FD"/>
                </a:solidFill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ID: 88</a:t>
            </a:r>
            <a:endParaRPr lang="en-US" dirty="0"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3072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Score: 612  ·  Personalized discounts + rewards</a:t>
            </a:r>
            <a:endParaRPr lang="en-US" sz="1200" dirty="0">
              <a:latin typeface="Candara Light" panose="020E0502030303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7472" y="3584448"/>
            <a:ext cx="4160520" cy="877824"/>
          </a:xfrm>
          <a:prstGeom prst="rect">
            <a:avLst/>
          </a:prstGeom>
          <a:solidFill>
            <a:srgbClr val="12103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584448"/>
            <a:ext cx="91440" cy="877824"/>
          </a:xfrm>
          <a:prstGeom prst="rect">
            <a:avLst/>
          </a:prstGeom>
          <a:solidFill>
            <a:srgbClr val="CD7C2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6576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3639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Donald.Fritsch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26080" y="3639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C4B5FD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ID: 77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" y="40782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Score: 392  ·  Referral rewards + recognition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36592" y="1170432"/>
            <a:ext cx="4059936" cy="32918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1170432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</a:t>
            </a:r>
            <a:r>
              <a:rPr lang="en-US" sz="16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User Segments for Targeted Campaigns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36592" y="1572768"/>
            <a:ext cx="1965960" cy="12801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1572768"/>
            <a:ext cx="1965960" cy="73152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1709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2BD9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Power Users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28032" y="210312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High posts + high engagement</a:t>
            </a:r>
            <a:endParaRPr lang="en-US" sz="1000" dirty="0">
              <a:latin typeface="Candara Light" panose="020E0502030303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→ VIP rewards, early access, badges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93992" y="1572768"/>
            <a:ext cx="1965960" cy="12801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93992" y="1572768"/>
            <a:ext cx="1965960" cy="7315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35" name="Text 33"/>
          <p:cNvSpPr/>
          <p:nvPr/>
        </p:nvSpPr>
        <p:spPr>
          <a:xfrm>
            <a:off x="688543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69480" y="1709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1E8C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Influencer Tier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85432" y="210312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77 followers + strong avg/post</a:t>
            </a:r>
            <a:endParaRPr lang="en-US" sz="1000" dirty="0">
              <a:latin typeface="Candara Light" panose="020E0502030303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→ Sponsored posts, ambassador deals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36592" y="2990088"/>
            <a:ext cx="1965960" cy="12801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36592" y="2990088"/>
            <a:ext cx="19659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12080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Casual Users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28032" y="352044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Some activity, lower engagement</a:t>
            </a:r>
            <a:endParaRPr lang="en-US" sz="1000" dirty="0">
              <a:latin typeface="Candara Light" panose="020E0502030303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→ Content recommendations, nudges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793992" y="2990088"/>
            <a:ext cx="1965960" cy="12801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93992" y="2990088"/>
            <a:ext cx="19659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88543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69480" y="3127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Inactive Users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885432" y="352044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0 posts or 0 likes detected</a:t>
            </a:r>
            <a:endParaRPr lang="en-US" sz="1000" dirty="0">
              <a:latin typeface="Candara Light" panose="020E0502030303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→ Re-engagement emails + incentives</a:t>
            </a:r>
            <a:endParaRPr lang="en-US" sz="1000" dirty="0"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17497"/>
            <a:ext cx="3300984" cy="2926080"/>
          </a:xfrm>
          <a:prstGeom prst="ellipse">
            <a:avLst/>
          </a:prstGeom>
          <a:solidFill>
            <a:srgbClr val="6C2BD9">
              <a:alpha val="22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91255" y="160020"/>
            <a:ext cx="5605273" cy="219456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A78BFA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Subjective Questions 3 &amp; 5</a:t>
            </a:r>
            <a:endParaRPr lang="en-US" sz="3600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86075" y="4526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Hashtag Strategy &amp; Influencer Marketing</a:t>
            </a:r>
            <a:endParaRPr lang="en-US" sz="4000" dirty="0">
              <a:solidFill>
                <a:schemeClr val="tx1"/>
              </a:solidFill>
              <a:latin typeface="Chiller" panose="04020404031007020602" pitchFamily="82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139082748"/>
              </p:ext>
            </p:extLst>
          </p:nvPr>
        </p:nvGraphicFramePr>
        <p:xfrm>
          <a:off x="347472" y="1188720"/>
          <a:ext cx="4297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47472" y="3913632"/>
            <a:ext cx="4297680" cy="804672"/>
          </a:xfrm>
          <a:prstGeom prst="rect">
            <a:avLst/>
          </a:prstGeom>
          <a:solidFill>
            <a:srgbClr val="2D1B6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3913632"/>
            <a:ext cx="91440" cy="80467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" y="3968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D4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📊  Content Strategy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12064" y="4224528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Target food/lifestyle hashtags in ad campaigns. Use #delicious (65.27 rate) as anchor hashtag for highest organic reach.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28032" y="1188720"/>
            <a:ext cx="3968496" cy="329184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12" name="Text 9"/>
          <p:cNvSpPr/>
          <p:nvPr/>
        </p:nvSpPr>
        <p:spPr>
          <a:xfrm>
            <a:off x="4919472" y="1188720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🌟  Influencer Outreach Approach</a:t>
            </a:r>
            <a:endParaRPr lang="en-US" sz="1800" dirty="0">
              <a:latin typeface="Candara" panose="020E0502030303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828032" y="1591056"/>
            <a:ext cx="3968496" cy="694944"/>
          </a:xfrm>
          <a:prstGeom prst="rect">
            <a:avLst/>
          </a:prstGeom>
          <a:solidFill>
            <a:srgbClr val="0D0A1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28032" y="1591056"/>
            <a:ext cx="91440" cy="694944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15" name="Shape 12"/>
          <p:cNvSpPr/>
          <p:nvPr/>
        </p:nvSpPr>
        <p:spPr>
          <a:xfrm>
            <a:off x="4956048" y="1682496"/>
            <a:ext cx="402336" cy="256032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16" name="Text 13"/>
          <p:cNvSpPr/>
          <p:nvPr/>
        </p:nvSpPr>
        <p:spPr>
          <a:xfrm>
            <a:off x="4956048" y="16824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13248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2BD9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Identify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13248" y="1920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Rank by followers (77) + avg engagement/post. Top: Donald.Fritsch (65.33), Aurelie71 (65.25), Cesar93 (64.60)</a:t>
            </a:r>
            <a:endParaRPr lang="en-US" sz="800" dirty="0">
              <a:latin typeface="Candara Light" panose="020E0502030303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28032" y="2340864"/>
            <a:ext cx="3968496" cy="694944"/>
          </a:xfrm>
          <a:prstGeom prst="rect">
            <a:avLst/>
          </a:prstGeom>
          <a:solidFill>
            <a:srgbClr val="0D0A1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28032" y="2340864"/>
            <a:ext cx="91440" cy="694944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1" name="Shape 18"/>
          <p:cNvSpPr/>
          <p:nvPr/>
        </p:nvSpPr>
        <p:spPr>
          <a:xfrm>
            <a:off x="4956048" y="2432304"/>
            <a:ext cx="402336" cy="2560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2" name="Text 19"/>
          <p:cNvSpPr/>
          <p:nvPr/>
        </p:nvSpPr>
        <p:spPr>
          <a:xfrm>
            <a:off x="4956048" y="243230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13248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1E8C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413248" y="2670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Start engaging naturally with their content — like, comment, share before reaching out</a:t>
            </a:r>
            <a:endParaRPr lang="en-US" sz="900" dirty="0">
              <a:latin typeface="Candara Light" panose="020E0502030303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828032" y="3090672"/>
            <a:ext cx="3968496" cy="694944"/>
          </a:xfrm>
          <a:prstGeom prst="rect">
            <a:avLst/>
          </a:prstGeom>
          <a:solidFill>
            <a:srgbClr val="0D0A1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28032" y="3090672"/>
            <a:ext cx="91440" cy="6949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Shape 24"/>
          <p:cNvSpPr/>
          <p:nvPr/>
        </p:nvSpPr>
        <p:spPr>
          <a:xfrm>
            <a:off x="4956048" y="3182112"/>
            <a:ext cx="402336" cy="25603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5"/>
          <p:cNvSpPr/>
          <p:nvPr/>
        </p:nvSpPr>
        <p:spPr>
          <a:xfrm>
            <a:off x="4956048" y="31821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13248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D4AA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413248" y="3419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Send a short personalised DM explaining why they are a good brand fit for the campaign</a:t>
            </a:r>
            <a:endParaRPr lang="en-US" sz="1000" dirty="0">
              <a:latin typeface="Candara Light" panose="020E0502030303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828032" y="3840480"/>
            <a:ext cx="3968496" cy="694944"/>
          </a:xfrm>
          <a:prstGeom prst="rect">
            <a:avLst/>
          </a:prstGeom>
          <a:solidFill>
            <a:srgbClr val="0D0A1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28032" y="3840480"/>
            <a:ext cx="91440" cy="69494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3" name="Shape 30"/>
          <p:cNvSpPr/>
          <p:nvPr/>
        </p:nvSpPr>
        <p:spPr>
          <a:xfrm>
            <a:off x="4956048" y="3931920"/>
            <a:ext cx="402336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4" name="Text 31"/>
          <p:cNvSpPr/>
          <p:nvPr/>
        </p:nvSpPr>
        <p:spPr>
          <a:xfrm>
            <a:off x="4956048" y="39319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413248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Collaborate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413248" y="41696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Propose: sponsored post, giveaway, product review, or long-term ambassador partnership</a:t>
            </a:r>
            <a:endParaRPr lang="en-US" sz="900" dirty="0"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34520" y="170314"/>
            <a:ext cx="3200400" cy="3200400"/>
          </a:xfrm>
          <a:prstGeom prst="ellipse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57981" y="283464"/>
            <a:ext cx="3837803" cy="2771378"/>
          </a:xfrm>
          <a:prstGeom prst="ellipse">
            <a:avLst/>
          </a:prstGeom>
          <a:solidFill>
            <a:srgbClr val="E91E8C">
              <a:alpha val="18000"/>
            </a:srgbClr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64748B"/>
                </a:solidFill>
                <a:latin typeface="Chiller" panose="04020404031007020602" pitchFamily="82" charset="0"/>
                <a:ea typeface="Trebuchet MS" pitchFamily="34" charset="-122"/>
                <a:cs typeface="Trebuchet MS" pitchFamily="34" charset="-120"/>
              </a:rPr>
              <a:t>Based on SQL Analysis Findings</a:t>
            </a:r>
            <a:endParaRPr lang="en-US" sz="3200" dirty="0">
              <a:latin typeface="Chiller" panose="040204040310070206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40233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C2BD9"/>
                </a:solidFill>
                <a:latin typeface="Chiller" panose="04020404031007020602" pitchFamily="82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3200" dirty="0">
              <a:latin typeface="Chiller" panose="04020404031007020602" pitchFamily="8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024127"/>
            <a:ext cx="2670048" cy="3912145"/>
          </a:xfrm>
          <a:prstGeom prst="rect">
            <a:avLst/>
          </a:prstGeom>
          <a:solidFill>
            <a:srgbClr val="1A1A2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2670048" cy="384048"/>
          </a:xfrm>
          <a:prstGeom prst="rect">
            <a:avLst/>
          </a:prstGeom>
          <a:solidFill>
            <a:srgbClr val="6C2BD9"/>
          </a:solidFill>
          <a:ln/>
        </p:spPr>
      </p:sp>
      <p:sp>
        <p:nvSpPr>
          <p:cNvPr id="8" name="Shape 6"/>
          <p:cNvSpPr/>
          <p:nvPr/>
        </p:nvSpPr>
        <p:spPr>
          <a:xfrm>
            <a:off x="1316736" y="1115568"/>
            <a:ext cx="731520" cy="731520"/>
          </a:xfrm>
          <a:prstGeom prst="ellipse">
            <a:avLst/>
          </a:prstGeom>
          <a:solidFill>
            <a:srgbClr val="F8F4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16736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" y="1723641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6C2BD9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6C2BD9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Re-engage</a:t>
            </a:r>
            <a:endParaRPr lang="en-US" sz="2000" dirty="0"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6C2BD9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Inactive Users</a:t>
            </a:r>
            <a:endParaRPr lang="en-US" sz="2000" dirty="0">
              <a:latin typeface="Candara" panose="020E0502030303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1208" y="2504712"/>
            <a:ext cx="146304" cy="14630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2" name="Text 10"/>
          <p:cNvSpPr/>
          <p:nvPr/>
        </p:nvSpPr>
        <p:spPr>
          <a:xfrm>
            <a:off x="766424" y="23774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26 users have 0 posts</a:t>
            </a:r>
            <a:endParaRPr lang="en-US" sz="1200" dirty="0">
              <a:latin typeface="Candara Light" panose="020E0502030303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0352" y="2964587"/>
            <a:ext cx="146304" cy="14630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1635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Personalised push notifications</a:t>
            </a:r>
            <a:endParaRPr lang="en-US" sz="1200" dirty="0">
              <a:latin typeface="Candara Light" panose="020E0502030303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3104" y="3417402"/>
            <a:ext cx="146304" cy="146304"/>
          </a:xfrm>
          <a:prstGeom prst="ellipse">
            <a:avLst/>
          </a:prstGeom>
          <a:solidFill>
            <a:srgbClr val="6C2BD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749808" y="32918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Easy-return incentive offer</a:t>
            </a:r>
            <a:endParaRPr lang="en-US" sz="1200" dirty="0">
              <a:latin typeface="Candara Light" panose="020E0502030303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1208" y="3903005"/>
            <a:ext cx="146304" cy="146304"/>
          </a:xfrm>
          <a:prstGeom prst="ellipse">
            <a:avLst/>
          </a:prstGeom>
          <a:solidFill>
            <a:srgbClr val="6C2BD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76732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Goal: move them to 1st post</a:t>
            </a:r>
            <a:endParaRPr lang="en-US" sz="1200" dirty="0">
              <a:latin typeface="Candara Light" panose="020E0502030303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82112" y="1207008"/>
            <a:ext cx="2670048" cy="3729264"/>
          </a:xfrm>
          <a:prstGeom prst="rect">
            <a:avLst/>
          </a:prstGeom>
          <a:solidFill>
            <a:srgbClr val="1A1A2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1024127"/>
            <a:ext cx="2670048" cy="566929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51376" y="1115568"/>
            <a:ext cx="731520" cy="731520"/>
          </a:xfrm>
          <a:prstGeom prst="ellipse">
            <a:avLst/>
          </a:prstGeom>
          <a:solidFill>
            <a:srgbClr val="F8F4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51376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0" y="1664208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b="1" dirty="0">
              <a:solidFill>
                <a:srgbClr val="E91E8C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E91E8C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1800" dirty="0"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E91E8C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Influencer Campaign</a:t>
            </a:r>
            <a:endParaRPr lang="en-US" sz="1800" dirty="0">
              <a:latin typeface="Candara" panose="020E0502030303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350272" y="247728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2340864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top 7 users (77 followers)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50272" y="2944368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281635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eng/post &gt; 62 threshold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46406" y="341350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29" name="Text 27"/>
          <p:cNvSpPr/>
          <p:nvPr/>
        </p:nvSpPr>
        <p:spPr>
          <a:xfrm>
            <a:off x="3584448" y="32918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post + giveaway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46406" y="3903005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376732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via CTR &amp; conversion rate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1261872"/>
            <a:ext cx="2670048" cy="3674400"/>
          </a:xfrm>
          <a:prstGeom prst="rect">
            <a:avLst/>
          </a:prstGeom>
          <a:solidFill>
            <a:srgbClr val="1A1A2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042416"/>
            <a:ext cx="2651760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Shape 32"/>
          <p:cNvSpPr/>
          <p:nvPr/>
        </p:nvSpPr>
        <p:spPr>
          <a:xfrm>
            <a:off x="6986016" y="1086203"/>
            <a:ext cx="731520" cy="731520"/>
          </a:xfrm>
          <a:prstGeom prst="ellipse">
            <a:avLst/>
          </a:prstGeom>
          <a:solidFill>
            <a:srgbClr val="F8F4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86016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#️⃣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26480" y="1801368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Hashtag-led</a:t>
            </a:r>
            <a:endParaRPr lang="en-US" sz="1800" dirty="0">
              <a:latin typeface="Candara" panose="020E0502030303020204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  <a:latin typeface="Candara" panose="020E0502030303020204" pitchFamily="34" charset="0"/>
                <a:ea typeface="Trebuchet MS" pitchFamily="34" charset="-122"/>
                <a:cs typeface="Trebuchet MS" pitchFamily="34" charset="-120"/>
              </a:rPr>
              <a:t>Ad Strategy</a:t>
            </a:r>
            <a:endParaRPr lang="en-US" sz="1800" dirty="0">
              <a:latin typeface="Candara" panose="020E0502030303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69599" y="2483971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6419088" y="2340864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#delicious (65.27 rate)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7999" y="2944368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6419088" y="281635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campaigns on food themes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81344" y="3424429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32918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 high-UGC posts as ads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93686" y="3895344"/>
            <a:ext cx="146304" cy="146304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4" name="Text 42"/>
          <p:cNvSpPr/>
          <p:nvPr/>
        </p:nvSpPr>
        <p:spPr>
          <a:xfrm>
            <a:off x="6419088" y="376732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creatives per hashtag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6326" y="258317"/>
            <a:ext cx="4664481" cy="3801617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0999" y="452632"/>
            <a:ext cx="5577840" cy="2660896"/>
          </a:xfrm>
          <a:prstGeom prst="ellipse">
            <a:avLst/>
          </a:prstGeom>
          <a:solidFill>
            <a:srgbClr val="F43F5E">
              <a:alpha val="9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21183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kern="0" spc="300" dirty="0">
                <a:solidFill>
                  <a:srgbClr val="94A3B8"/>
                </a:solidFill>
                <a:latin typeface="Chiller" panose="04020404031007020602" pitchFamily="82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>
              <a:latin typeface="Chiller" panose="04020404031007020602" pitchFamily="8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19919" y="426083"/>
            <a:ext cx="378375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hiller" panose="04020404031007020602" pitchFamily="82" charset="0"/>
                <a:ea typeface="Segoe UI" pitchFamily="34" charset="-122"/>
                <a:cs typeface="Segoe UI" pitchFamily="34" charset="-120"/>
              </a:rPr>
              <a:t>Key Findings &amp; Conclusion</a:t>
            </a:r>
            <a:endParaRPr lang="en-US" sz="3600" dirty="0">
              <a:solidFill>
                <a:schemeClr val="tx1"/>
              </a:solidFill>
              <a:latin typeface="Chiller" panose="04020404031007020602" pitchFamily="8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139696" y="1005840"/>
            <a:ext cx="50292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Shape 8"/>
          <p:cNvSpPr/>
          <p:nvPr/>
        </p:nvSpPr>
        <p:spPr>
          <a:xfrm>
            <a:off x="2679192" y="1005840"/>
            <a:ext cx="164592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338589" y="1093676"/>
            <a:ext cx="5120640" cy="3881623"/>
          </a:xfrm>
          <a:prstGeom prst="rect">
            <a:avLst/>
          </a:prstGeom>
          <a:solidFill>
            <a:srgbClr val="0E1525"/>
          </a:solidFill>
          <a:ln/>
          <a:effectLst>
            <a:outerShdw blurRad="2032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 flipH="1">
            <a:off x="228601" y="1115567"/>
            <a:ext cx="45719" cy="383590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207008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7C3AED"/>
                </a:solidFill>
                <a:latin typeface="Chiller" panose="04020404031007020602" pitchFamily="82" charset="0"/>
                <a:ea typeface="Segoe UI" pitchFamily="34" charset="-122"/>
                <a:cs typeface="Segoe UI" pitchFamily="34" charset="-120"/>
              </a:rPr>
              <a:t>MAIN INSIGHTS RECAP</a:t>
            </a:r>
            <a:endParaRPr lang="en-US" sz="1800" dirty="0">
              <a:latin typeface="Chiller" panose="04020404031007020602" pitchFamily="8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" y="1481328"/>
            <a:ext cx="4773168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645920"/>
            <a:ext cx="256032" cy="20116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6459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lgerian" panose="04020705040A020607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1200" dirty="0">
              <a:latin typeface="Algerian" panose="04020705040A02060702" pitchFamily="8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8096" y="16093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" y="16276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26% of users are completely inactive — re-engagement is the #1 priority for growth.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912" y="2249424"/>
            <a:ext cx="256032" cy="201168"/>
          </a:xfrm>
          <a:prstGeom prst="rect">
            <a:avLst/>
          </a:prstGeom>
          <a:solidFill>
            <a:srgbClr val="F43F5E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2494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>
              <a:latin typeface="Algerian" panose="04020705040A02060702" pitchFamily="8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096" y="221284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52144" y="223113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Eveline95 &amp; Clint27 are the most loyal users — they deserve VIP rewards and recognition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8912" y="2852928"/>
            <a:ext cx="256032" cy="201168"/>
          </a:xfrm>
          <a:prstGeom prst="rect">
            <a:avLst/>
          </a:prstGeom>
          <a:solidFill>
            <a:srgbClr val="06B6D4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8529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>
              <a:latin typeface="Algerian" panose="04020705040A02060702" pitchFamily="8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8096" y="281635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📣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52144" y="283464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Top 7 users (77 followers each) are ideal influencer candidates for brand campaigns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38912" y="3456432"/>
            <a:ext cx="256032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34564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>
              <a:latin typeface="Algerian" panose="04020705040A02060702" pitchFamily="8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8096" y="34198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#️⃣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52144" y="343814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#delicious (65.27 eng. rate) should anchor all food &amp; lifestyle advertising campaigns</a:t>
            </a:r>
            <a:endParaRPr lang="en-US" sz="1100" dirty="0">
              <a:latin typeface="Candara Light" panose="020E0502030303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8912" y="4059936"/>
            <a:ext cx="256032" cy="20116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40599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>
              <a:latin typeface="Algerian" panose="04020705040A02060702" pitchFamily="8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8096" y="402336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💡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52144" y="404164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</a:t>
            </a: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g engagement per post is more meaningful than total score when selecting influencers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77840" y="1130435"/>
            <a:ext cx="3273552" cy="3881621"/>
          </a:xfrm>
          <a:prstGeom prst="rect">
            <a:avLst/>
          </a:prstGeom>
          <a:solidFill>
            <a:srgbClr val="0E1525"/>
          </a:solidFill>
          <a:ln/>
          <a:effectLst>
            <a:outerShdw blurRad="2032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1115568"/>
            <a:ext cx="54864" cy="217627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7" name="Text 35"/>
          <p:cNvSpPr/>
          <p:nvPr/>
        </p:nvSpPr>
        <p:spPr>
          <a:xfrm>
            <a:off x="5742432" y="120700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43F5E"/>
                </a:solidFill>
                <a:latin typeface="Chiller" panose="04020404031007020602" pitchFamily="82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1600" dirty="0">
              <a:latin typeface="Chiller" panose="04020404031007020602" pitchFamily="8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742432" y="1481328"/>
            <a:ext cx="30175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16093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071616" y="162763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Segment users by engagement tier for personalised campaigns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742432" y="20116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71616" y="2029968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Shift ad spend to high-engagement hashtag themes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742432" y="24140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071616" y="243230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Launch influencer programme with top 7 identified users</a:t>
            </a:r>
            <a:endParaRPr lang="en-US" sz="1050" dirty="0">
              <a:latin typeface="Candara Light" panose="020E0502030303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742432" y="281635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071616" y="283464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ndara Light" panose="020E0502030303020204" pitchFamily="34" charset="0"/>
                <a:ea typeface="Calibri" pitchFamily="34" charset="-122"/>
                <a:cs typeface="Calibri" pitchFamily="34" charset="-120"/>
              </a:rPr>
              <a:t>Deploy re-engagement flows for 26 zero-post users</a:t>
            </a:r>
            <a:endParaRPr lang="en-US" sz="1050" dirty="0">
              <a:latin typeface="Candara Light" panose="020E0502030303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40718"/>
            <a:ext cx="7772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chemeClr val="tx1"/>
                </a:solidFill>
                <a:latin typeface="Comic Sans MS" panose="030F0702030302020204" pitchFamily="66" charset="0"/>
                <a:ea typeface="Segoe UI" pitchFamily="34" charset="-122"/>
                <a:cs typeface="Segoe UI" pitchFamily="34" charset="-120"/>
              </a:rPr>
              <a:t>Thank</a:t>
            </a:r>
            <a:endParaRPr lang="en-US" sz="92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58968" y="1456870"/>
            <a:ext cx="7772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7C3AED"/>
                </a:solidFill>
                <a:latin typeface="Comic Sans MS" panose="030F0702030302020204" pitchFamily="66" charset="0"/>
                <a:ea typeface="Segoe UI" pitchFamily="34" charset="-122"/>
                <a:cs typeface="Segoe UI" pitchFamily="34" charset="-120"/>
              </a:rPr>
              <a:t>You!</a:t>
            </a:r>
            <a:endParaRPr lang="en-US" sz="9200" dirty="0">
              <a:latin typeface="Comic Sans MS" panose="030F0702030302020204" pitchFamily="66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008376" y="2834640"/>
            <a:ext cx="59436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2834640"/>
            <a:ext cx="201168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96265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Segoe Print" panose="02000600000000000000" pitchFamily="2" charset="0"/>
                <a:ea typeface="Segoe UI" pitchFamily="34" charset="-122"/>
                <a:cs typeface="Segoe UI" pitchFamily="34" charset="-120"/>
              </a:rPr>
              <a:t>Social Media SQL Analytics Project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3284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chemeClr val="accent5">
                    <a:lumMod val="50000"/>
                  </a:schemeClr>
                </a:solidFill>
                <a:latin typeface="Bodoni MT Condensed" panose="02070606080606020203" pitchFamily="18" charset="0"/>
                <a:ea typeface="Calibri" pitchFamily="34" charset="-122"/>
                <a:cs typeface="Calibri" pitchFamily="34" charset="-120"/>
              </a:rPr>
              <a:t>User Behaviour  ·  Engagement  ·  Influencer Identification  ·  Campaign Strategy</a:t>
            </a:r>
            <a:endParaRPr lang="en-US" sz="1150" dirty="0">
              <a:solidFill>
                <a:schemeClr val="accent5">
                  <a:lumMod val="50000"/>
                </a:schemeClr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3785616"/>
            <a:ext cx="1554480" cy="292608"/>
          </a:xfrm>
          <a:prstGeom prst="rect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785616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93976" y="3785616"/>
            <a:ext cx="1554480" cy="292608"/>
          </a:xfrm>
          <a:prstGeom prst="rect">
            <a:avLst/>
          </a:prstGeom>
          <a:solidFill>
            <a:srgbClr val="F43F5E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93976" y="3785616"/>
            <a:ext cx="54864" cy="2926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2185416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7 Tables</a:t>
            </a:r>
            <a:endParaRPr lang="en-US" sz="1200" dirty="0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776472" y="3785616"/>
            <a:ext cx="1554480" cy="292608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776472" y="3785616"/>
            <a:ext cx="54864" cy="2926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3867912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050" dirty="0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58968" y="3785616"/>
            <a:ext cx="1554480" cy="292608"/>
          </a:xfrm>
          <a:prstGeom prst="rect">
            <a:avLst/>
          </a:prstGeom>
          <a:solidFill>
            <a:srgbClr val="F59E0B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58968" y="3785616"/>
            <a:ext cx="54864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550408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Window Fn</a:t>
            </a:r>
            <a:endParaRPr lang="en-US" sz="1050" dirty="0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086600" y="3785616"/>
            <a:ext cx="1554480" cy="292608"/>
          </a:xfrm>
          <a:prstGeom prst="rect">
            <a:avLst/>
          </a:prstGeom>
          <a:solidFill>
            <a:srgbClr val="10B981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41464" y="3785616"/>
            <a:ext cx="54864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232904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23 Q&amp;As</a:t>
            </a:r>
            <a:endParaRPr lang="en-US" sz="1200" dirty="0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736592"/>
            <a:ext cx="8595360" cy="0"/>
          </a:xfrm>
          <a:prstGeom prst="line">
            <a:avLst/>
          </a:prstGeom>
          <a:noFill/>
          <a:ln w="1016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10801</TotalTime>
  <Words>1191</Words>
  <Application>Microsoft Office PowerPoint</Application>
  <PresentationFormat>On-screen Show (16:9)</PresentationFormat>
  <Paragraphs>291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1" baseType="lpstr">
      <vt:lpstr>Calisto MT</vt:lpstr>
      <vt:lpstr>Algerian</vt:lpstr>
      <vt:lpstr>BatangChe</vt:lpstr>
      <vt:lpstr>Lucida Calligraphy</vt:lpstr>
      <vt:lpstr>Book Antiqua</vt:lpstr>
      <vt:lpstr>Trebuchet MS</vt:lpstr>
      <vt:lpstr>Bodoni MT Condensed</vt:lpstr>
      <vt:lpstr>Candara Light</vt:lpstr>
      <vt:lpstr>Chiller</vt:lpstr>
      <vt:lpstr>Arial</vt:lpstr>
      <vt:lpstr>Comic Sans MS</vt:lpstr>
      <vt:lpstr>Calibri</vt:lpstr>
      <vt:lpstr>Candara</vt:lpstr>
      <vt:lpstr>Constantia</vt:lpstr>
      <vt:lpstr>Segoe Print</vt:lpstr>
      <vt:lpstr>Simple Light</vt:lpstr>
      <vt:lpstr>Social Media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bharadwaj</dc:creator>
  <cp:lastModifiedBy>sai bharadwaj</cp:lastModifiedBy>
  <cp:revision>7</cp:revision>
  <dcterms:modified xsi:type="dcterms:W3CDTF">2026-05-30T20:34:40Z</dcterms:modified>
</cp:coreProperties>
</file>